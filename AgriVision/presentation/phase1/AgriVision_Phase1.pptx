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(t/ha)</c:v>
                </c:pt>
              </c:strCache>
            </c:strRef>
          </c:tx>
          <c:spPr>
            <a:solidFill>
              <a:srgbClr val="C9A0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0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A8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Mean Predictor</c:v>
                  </c:pt>
                  <c:pt idx="1">
                    <c:v>Median Predictor</c:v>
                  </c:pt>
                  <c:pt idx="2">
                    <c:v>Tuned SVR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8.51</c:v>
                </c:pt>
                <c:pt idx="1">
                  <c:v>9.31</c:v>
                </c:pt>
                <c:pt idx="2">
                  <c:v>3.84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Decrease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crop_enc</c:v>
                  </c:pt>
                  <c:pt idx="1">
                    <c:v>pesticides_tonnes</c:v>
                  </c:pt>
                  <c:pt idx="2">
                    <c:v>heat_stress_index</c:v>
                  </c:pt>
                  <c:pt idx="3">
                    <c:v>country_enc</c:v>
                  </c:pt>
                  <c:pt idx="4">
                    <c:v>rainfall_temp_ratio</c:v>
                  </c:pt>
                  <c:pt idx="5">
                    <c:v>rainfall_mm</c:v>
                  </c:pt>
                  <c:pt idx="6">
                    <c:v>avg_temp</c:v>
                  </c:pt>
                  <c:pt idx="7">
                    <c:v>log_pesticides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0.089</c:v>
                </c:pt>
                <c:pt idx="1">
                  <c:v>0.12</c:v>
                </c:pt>
                <c:pt idx="2">
                  <c:v>0.182</c:v>
                </c:pt>
                <c:pt idx="3">
                  <c:v>0.279</c:v>
                </c:pt>
                <c:pt idx="4">
                  <c:v>0.308</c:v>
                </c:pt>
                <c:pt idx="5">
                  <c:v>0.325</c:v>
                </c:pt>
                <c:pt idx="6">
                  <c:v>0.401</c:v>
                </c:pt>
                <c:pt idx="7">
                  <c:v>0.477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72A4A"/>
          </a:solidFill>
          <a:ln w="12700">
            <a:solidFill>
              <a:srgbClr val="17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457200"/>
            <a:ext cx="173736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57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BASELINE ML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005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Satellite-Based Precision Agriculture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using Support Vector Regression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457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822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55080" y="13533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691640"/>
            <a:ext cx="2194560" cy="0"/>
          </a:xfrm>
          <a:prstGeom prst="line">
            <a:avLst/>
          </a:prstGeom>
          <a:noFill/>
          <a:ln w="12700">
            <a:solidFill>
              <a:srgbClr val="2E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8105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 t/ha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55080" y="223113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2578608"/>
            <a:ext cx="2194560" cy="0"/>
          </a:xfrm>
          <a:prstGeom prst="line">
            <a:avLst/>
          </a:prstGeom>
          <a:noFill/>
          <a:ln w="12700">
            <a:solidFill>
              <a:srgbClr val="2E4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6974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54.8%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31181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baseline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480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countries  ·  10 crop types  ·  28,242 observations  ·  FAO dataset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predicting and what data we have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8503920" cy="804672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73152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716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country, crop type, rainfall, temperature, and pesticide usage — predict crop yield in tonnes per hectare.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4597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28,242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" y="29169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observations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33172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24597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468880" y="29169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33172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24597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17720" y="29169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types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233172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24597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1990–2013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766560" y="29169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range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5661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58768"/>
            <a:ext cx="73152" cy="7315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8221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(101 unique, label-encoded)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059936"/>
            <a:ext cx="73152" cy="7315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0233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type (10 varieties, label-encoded)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261104"/>
            <a:ext cx="73152" cy="7315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2245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— annual mm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462272"/>
            <a:ext cx="73152" cy="7315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4256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— mean °C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4663440"/>
            <a:ext cx="73152" cy="7315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6268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Pesticides — tonnes applied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493008"/>
            <a:ext cx="4160520" cy="1417320"/>
          </a:xfrm>
          <a:prstGeom prst="rect">
            <a:avLst/>
          </a:prstGeom>
          <a:solidFill>
            <a:srgbClr val="EAF3DE"/>
          </a:solidFill>
          <a:ln w="10160">
            <a:solidFill>
              <a:srgbClr val="97C45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3584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3840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yield_tonnes_per_ha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00600" y="41605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in tonnes per hectare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0.005 → 50.14 t/ha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that dictated preprocessing decisions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53312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53312"/>
            <a:ext cx="64008" cy="157276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630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is right-skewed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737360"/>
            <a:ext cx="39044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= 1.81. Heavy tail from Potatoes (50 t/ha) and Cassava (38 t/ha). Dictated: log-transform of pesticides and per-crop normalisation.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353312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53312"/>
            <a:ext cx="64008" cy="15727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4630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explains 49% of variance alone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28032" y="1737360"/>
            <a:ext cx="39044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with crop_enc only achieves R²=0.49. All per-crop R² values were negative — model was not learning climate effects. Dictated: per-crop z-score normalisation.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072384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72384"/>
            <a:ext cx="64008" cy="15727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182112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Pesticides highest corr (r = 0.72)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3456432"/>
            <a:ext cx="39044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adoption proxy. Diminishing returns relationship. Dictated: log_pesticides engineered feature.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3072384"/>
            <a:ext cx="41605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72384"/>
            <a:ext cx="64008" cy="15727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182112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column causes leakage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3456432"/>
            <a:ext cx="39044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 rise over time due to technology. Including year teaches time trend, not climate. Dictated: year dropped entirely.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Domain-motivated features validated by permutation importance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53312"/>
            <a:ext cx="8503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53312"/>
            <a:ext cx="64008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44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rainfall_temp_ratio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1737360"/>
            <a:ext cx="2926080" cy="25603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4650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rainfall / (avg_temp + 1)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44475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rainfall under high temperature still causes moisture stress. Captures effective moisture availability.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80960" y="1536192"/>
            <a:ext cx="1005840" cy="64008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554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80960" y="1856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drop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523744"/>
            <a:ext cx="8503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23744"/>
            <a:ext cx="64008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log_pesticides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" y="2907792"/>
            <a:ext cx="2926080" cy="25603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91693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log1p(pesticides_tonnes)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261518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Pesticide-yield follows diminishing returns. Log compresses 300,000-tonne outliers and stabilises SVR.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80960" y="2706624"/>
            <a:ext cx="1005840" cy="64008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7249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80960" y="30266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drop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694176"/>
            <a:ext cx="8503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94176"/>
            <a:ext cx="64008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7856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heat_stress_index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0352" y="4078224"/>
            <a:ext cx="2926080" cy="25603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08736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clip(temp × (1 − rain/3000), 0, 1)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66160" y="378561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conjunction of high heat AND low rain — maximum crop stress scenario.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80960" y="3877056"/>
            <a:ext cx="1005840" cy="64008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89534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680960" y="41970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drop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FAEEDA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6634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(not OHE): OHE on 101 countries creates 101 sparse columns — every country equidistant in RBF kernel space. Label encoding + StandardScaler preserves meaningful distances.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Model — Kernel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RBF, why not Linear or Polynomial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8503920" cy="59436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SVR?  Climate-yield relationships are non-linear. The RBF kernel implicitly maps features to an infinite-dimensional space where non-linearities become linear — without explicitly computing the transformation (kernel trick). SVR is also robust to outliers via the ε-insensitive loss.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1463040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783080" y="2103120"/>
            <a:ext cx="2926080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56232" y="21031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2103120"/>
            <a:ext cx="2834640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1031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43800" y="2103120"/>
            <a:ext cx="1280160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16952" y="2103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432304"/>
            <a:ext cx="1463040" cy="384048"/>
          </a:xfrm>
          <a:prstGeom prst="rect">
            <a:avLst/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24323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783080" y="2432304"/>
            <a:ext cx="2926080" cy="384048"/>
          </a:xfrm>
          <a:prstGeom prst="rect">
            <a:avLst/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56232" y="24323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K(xᵢ,xⱼ) = xᵢ · xⱼ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432304"/>
            <a:ext cx="2834640" cy="384048"/>
          </a:xfrm>
          <a:prstGeom prst="rect">
            <a:avLst/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4323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linear separability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43800" y="2432304"/>
            <a:ext cx="1280160" cy="384048"/>
          </a:xfrm>
          <a:prstGeom prst="rect">
            <a:avLst/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16952" y="24323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RMSE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816352"/>
            <a:ext cx="1463040" cy="384048"/>
          </a:xfrm>
          <a:prstGeom prst="rect">
            <a:avLst/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816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783080" y="2816352"/>
            <a:ext cx="2926080" cy="384048"/>
          </a:xfrm>
          <a:prstGeom prst="rect">
            <a:avLst/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56232" y="28163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(γ·xᵢ·xⱼ + r)^d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816352"/>
            <a:ext cx="2834640" cy="384048"/>
          </a:xfrm>
          <a:prstGeom prst="rect">
            <a:avLst/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28163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interaction terms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543800" y="2816352"/>
            <a:ext cx="1280160" cy="384048"/>
          </a:xfrm>
          <a:prstGeom prst="rect">
            <a:avLst/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16952" y="28163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200400"/>
            <a:ext cx="146304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3200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783080" y="3200400"/>
            <a:ext cx="292608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56232" y="3200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exp(−γ||xᵢ−xⱼ||²)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3200400"/>
            <a:ext cx="283464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3200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Infinite-dim, smooth non-linear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543800" y="3200400"/>
            <a:ext cx="1280160" cy="384048"/>
          </a:xfrm>
          <a:prstGeom prst="rect">
            <a:avLst/>
          </a:prstGeom>
          <a:solidFill>
            <a:srgbClr val="D6E4F0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16952" y="3200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RMSE ✓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3639312"/>
            <a:ext cx="85039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3639312"/>
            <a:ext cx="64008" cy="126187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7124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Prevention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" y="3986784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is placed INSIDE an sklearn Pipeline alongside SVR. This ensures the scaler is fit only on training fold data during GridSearchCV — it never sees test or validation data. If scaled before splitting, test distribution statistics leak into scaler parameters, producing artificially optimistic scores.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— GridSearchCV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model fits to find the optimal RBF configuration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63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17320" y="1408176"/>
            <a:ext cx="868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40817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1408176"/>
            <a:ext cx="86868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40817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408176"/>
            <a:ext cx="868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0817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60520" y="1463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— penalty per ε-tube violation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468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gamma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17320" y="2414016"/>
            <a:ext cx="86868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17320" y="241401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23160" y="2414016"/>
            <a:ext cx="868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241401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2414016"/>
            <a:ext cx="868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41401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60520" y="24688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 width — controls decision boundary smoothness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3474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epsilon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417320" y="3419856"/>
            <a:ext cx="868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34198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23160" y="3419856"/>
            <a:ext cx="86868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23160" y="34198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29000" y="3419856"/>
            <a:ext cx="868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4198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60520" y="34747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 half-width — predictions within ε incur zero loss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462272"/>
            <a:ext cx="850392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572000"/>
            <a:ext cx="2011680" cy="4572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0040" y="4572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040" y="4828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combinations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68880" y="4572000"/>
            <a:ext cx="2011680" cy="4572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468880" y="4572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468880" y="4828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folds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4572000"/>
            <a:ext cx="2011680" cy="4572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17720" y="4572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81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17720" y="4828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model fits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0" y="4572000"/>
            <a:ext cx="201168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766560" y="4572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C=10, ε=0.5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66560" y="4828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Breakthrough — Per-Crop Target Normalisation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technique that lifted R² from 0.17 to 0.796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4069080" cy="1737360"/>
          </a:xfrm>
          <a:prstGeom prst="rect">
            <a:avLst/>
          </a:prstGeom>
          <a:solidFill>
            <a:srgbClr val="FFF5F5"/>
          </a:solidFill>
          <a:ln w="1016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417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691640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Cassava averages 14 t/ha.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Soybeans average 1.7 t/ha.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sees these as fundamentally different magnitudes. It learns which crop produces more — not how climate affects yield within each crop.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R² = 0.17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2240280"/>
            <a:ext cx="59436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2103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74920" y="1325880"/>
            <a:ext cx="3749040" cy="1737360"/>
          </a:xfrm>
          <a:prstGeom prst="rect">
            <a:avLst/>
          </a:prstGeom>
          <a:solidFill>
            <a:srgbClr val="EAF3DE"/>
          </a:solidFill>
          <a:ln w="10160">
            <a:solidFill>
              <a:srgbClr val="97C45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30368" y="1417320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0368" y="1691640"/>
            <a:ext cx="3438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yield WITHIN each crop: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yield_norm = (yield − crop_mean) / crop_std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both Cassava and Soybean become: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far above/below average for THIS crop given these climate conditions?"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learnable function. Result: R² = 0.796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246120"/>
            <a:ext cx="8503920" cy="56692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1012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 = (SVR_output × crop_std) + crop_mean  →  inverse-transform back to tonnes/ha for evaluation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913632"/>
            <a:ext cx="2743200" cy="896112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950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02920" y="4462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SVR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397764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6172200" y="3913632"/>
            <a:ext cx="2743200" cy="896112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3950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0.796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172200" y="4462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per-crop SVR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Ablation Study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vs honest statistical baselines on real held-out test 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32588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257800" y="1353312"/>
            <a:ext cx="3566160" cy="987552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94960" y="14447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46520" y="14081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0.796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394960" y="186537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79.6% of yield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257800" y="2450592"/>
            <a:ext cx="3566160" cy="987552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94960" y="2542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46520" y="25054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 t/ha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394960" y="296265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257800" y="3547872"/>
            <a:ext cx="3566160" cy="987552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394960" y="36393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46520" y="360273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 t/ha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394960" y="405993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54.8% better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mean baseline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computed on 5,649 held-out test samples (20% split, random_state=42). Baselines and SVR evaluated on identical test set.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Permutation Method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decrease when each feature is randomly shuffled (5 repeats, n=2000)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325880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1353312"/>
            <a:ext cx="333756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0" y="1353312"/>
            <a:ext cx="64008" cy="11338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50992" y="146304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log_pesticides (0.477)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50992" y="1737360"/>
            <a:ext cx="30815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adoption proxy. Most important single feature — countries with modern agriculture invest heavily in pesticides and achieve higher yields.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0" y="2615184"/>
            <a:ext cx="333756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2615184"/>
            <a:ext cx="64008" cy="1133856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50992" y="272491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avg_temp (0.401)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50992" y="2999232"/>
            <a:ext cx="30815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climate driver. Temperature determines growing season length, photosynthesis rate, and crop maturation speed.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0" y="3877056"/>
            <a:ext cx="333756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0" y="3877056"/>
            <a:ext cx="64008" cy="1133856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50992" y="3986784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crop_enc (0.089 — by design)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50992" y="4261104"/>
            <a:ext cx="30815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importance after per-crop normalisation. The between-crop scale effect was intentionally removed. Model learns climate effects, not crop identity.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2A4A"/>
          </a:solidFill>
          <a:ln w="12700">
            <a:solidFill>
              <a:srgbClr val="17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Complete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109728" cy="1097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538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0.796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99232" y="145389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79.6% of yield variance across 101 countries and 10 crops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12264"/>
            <a:ext cx="109728" cy="1097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0574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54.8% RMSE reduction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99232" y="205740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mean predictor baseline — proven real signal learned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15768"/>
            <a:ext cx="109728" cy="1097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609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Per-crop normalisation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99232" y="26609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technique solving cross-crop scale problem — R² lifted from 0.17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319272"/>
            <a:ext cx="109728" cy="1097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2644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engineered features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99232" y="326440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Domain-motivated: rainfall_temp_ratio, log_pesticides, heat_stress_index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922776"/>
            <a:ext cx="109728" cy="1097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8679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81-fit GridSearchCV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99232" y="3867912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tuning with 3-fold CV — bias-variance optimised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224528"/>
            <a:ext cx="8503920" cy="0"/>
          </a:xfrm>
          <a:prstGeom prst="line">
            <a:avLst/>
          </a:prstGeom>
          <a:noFill/>
          <a:ln w="12700">
            <a:solidFill>
              <a:srgbClr val="2E4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4622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AgriVision-CropYield-SVR  ·  Dataset: FAO Crop Yield (Kaggle)  ·  Stack: Python · scikit-learn · pandas · matplotlib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AgriVision Phase 1</dc:title>
  <dc:subject>PptxGenJS Presentation</dc:subject>
  <dc:creator>PptxGenJS</dc:creator>
  <cp:lastModifiedBy>PptxGenJS</cp:lastModifiedBy>
  <cp:revision>1</cp:revision>
  <dcterms:created xsi:type="dcterms:W3CDTF">2026-03-22T10:25:01Z</dcterms:created>
  <dcterms:modified xsi:type="dcterms:W3CDTF">2026-03-22T10:25:01Z</dcterms:modified>
</cp:coreProperties>
</file>