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52544" cy="5143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16168" y="0"/>
            <a:ext cx="3227832" cy="5143500"/>
          </a:xfrm>
          <a:prstGeom prst="rect">
            <a:avLst/>
          </a:prstGeom>
          <a:solidFill>
            <a:srgbClr val="17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0664" y="411480"/>
            <a:ext cx="1655064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411480"/>
            <a:ext cx="1655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90" b="1" i="0">
                <a:solidFill>
                  <a:srgbClr val="FFFFFF"/>
                </a:solidFill>
              </a:rPr>
              <a:t>PHASE 2 —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886968"/>
            <a:ext cx="4873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AgriVision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709928"/>
            <a:ext cx="48737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FB8D8"/>
                </a:solidFill>
              </a:rPr>
              <a:t>Satellite-Based Precision Agriculture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084831"/>
            <a:ext cx="48737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CC0"/>
                </a:solidFill>
              </a:rPr>
              <a:t>Crop Yield Prediction using BiLSTM + Temporal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4233672"/>
            <a:ext cx="4873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CC0"/>
                </a:solidFill>
              </a:rPr>
              <a:t>101 countries  ·  10 crop types  ·  25,932 sequences  ·  FAO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11480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FB8D8"/>
                </a:solidFill>
              </a:rPr>
              <a:t>KEY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36192"/>
            <a:ext cx="2084831" cy="0"/>
          </a:xfrm>
          <a:prstGeom prst="rect">
            <a:avLst/>
          </a:prstGeom>
          <a:noFill/>
          <a:ln w="9144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359152"/>
            <a:ext cx="2084831" cy="0"/>
          </a:xfrm>
          <a:prstGeom prst="rect">
            <a:avLst/>
          </a:prstGeom>
          <a:noFill/>
          <a:ln w="9144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713232"/>
            <a:ext cx="2523744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0.929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234440"/>
            <a:ext cx="2523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FB8D8"/>
                </a:solidFill>
              </a:rPr>
              <a:t>R²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618488"/>
            <a:ext cx="2523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2.28 t/ha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020824"/>
            <a:ext cx="2523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FB8D8"/>
                </a:solidFill>
              </a:rPr>
              <a:t>RMSE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441448"/>
            <a:ext cx="2523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CAF82"/>
                </a:solidFill>
              </a:rPr>
              <a:t>73.2%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843784"/>
            <a:ext cx="2523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FB8D8"/>
                </a:solidFill>
              </a:rPr>
              <a:t>better than baseline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" cy="5143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6324" y="27432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</a:rPr>
              <a:t>Motivation — Why Deep Learning?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324" y="1051560"/>
            <a:ext cx="8138160" cy="0"/>
          </a:xfrm>
          <a:prstGeom prst="rect">
            <a:avLst/>
          </a:prstGeom>
          <a:noFill/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SVR's fundamental limitation and the temporal opportunity it misses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" y="1170432"/>
            <a:ext cx="8531352" cy="75895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324" y="1170432"/>
            <a:ext cx="68580" cy="7589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207008"/>
            <a:ext cx="8321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4E79"/>
                </a:solidFill>
              </a:rPr>
              <a:t>SVR treats every country-crop-year as independent. But yields have memory — 3 consecutive drought
years damage soil and root systems differently than a single dry year. SVR cannot learn this.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" y="2084831"/>
            <a:ext cx="4050791" cy="1389888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324" y="2084831"/>
            <a:ext cx="59436" cy="1389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" y="2176272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SVR Limitation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" y="2404872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Treats every row as independent.
Cannot detect: 'yield at t is affected
by climate at t-1, t-2, t-3, t-4'.
Result: R² = 0.796 — good, but blind
to multi-year climate dynamics.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7992" y="2084831"/>
            <a:ext cx="4050791" cy="1389888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07992" y="2084831"/>
            <a:ext cx="59436" cy="1389888"/>
          </a:xfrm>
          <a:prstGeom prst="rect">
            <a:avLst/>
          </a:prstGeom>
          <a:solidFill>
            <a:srgbClr val="4C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176272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Hidden Temporal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04872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Each (country, crop) pair has 24 yearly
observations — a natural time series.
The signal: 'how did climate evolve over
the last 5 years for this exact pair?'
BiLSTM is designed to learn exactly this.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" y="3584448"/>
            <a:ext cx="4050791" cy="1325880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6324" y="3584448"/>
            <a:ext cx="59436" cy="13258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" y="3675887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Phase 2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" y="3904487"/>
            <a:ext cx="38862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Build 5-year lookback sequences.
BiLSTM processes each window.
Attention identifies which years matter.
Target: surpass SVR R² = 0.796.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7992" y="3584448"/>
            <a:ext cx="4050791" cy="1325880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7992" y="3584448"/>
            <a:ext cx="59436" cy="1325880"/>
          </a:xfrm>
          <a:prstGeom prst="rect">
            <a:avLst/>
          </a:prstGeom>
          <a:solidFill>
            <a:srgbClr val="4C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675887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Phase 2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904487"/>
            <a:ext cx="38862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568"/>
                </a:solidFill>
              </a:rPr>
              <a:t>R² = 0.929 (was 0.796 with SVR).
RMSE = 2.28 t/ha (was 3.84 t/ha).
40.6% RMSE improvement over Phase 1.
Temporal context is the key driver.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" cy="5143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6324" y="27432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</a:rPr>
              <a:t>Data Preparation — Lookback Sequences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324" y="1051560"/>
            <a:ext cx="8138160" cy="0"/>
          </a:xfrm>
          <a:prstGeom prst="rect">
            <a:avLst/>
          </a:prstGeom>
          <a:noFill/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Converting tabular rows into temporal windows for each country-crop pair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" y="1170432"/>
            <a:ext cx="4050791" cy="3611880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324" y="1170432"/>
            <a:ext cx="59436" cy="36118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" y="1261872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How Sequences Are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" y="1490472"/>
            <a:ext cx="3886200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For every row (country, crop, year t):
  Window = [t-4, t-3, t-2, t-1, t]
  Shape  = (5 timesteps × 5 features)
5 temporal features per timestep:
  • rainfall_mm
  • avg_temp
  • log_pesticides
  • heat_stress_index
  • rainfall_temp_ratio
2 static features (passed separately):
  • country_enc
  • crop_enc
Early years (1990–1993): left-padded
with zeros — model sees partial windows.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170432"/>
            <a:ext cx="4270248" cy="3611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23444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Albania · Maize · Year = 1994  →  predict yield at 1994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36592" y="1572768"/>
            <a:ext cx="4114800" cy="420624"/>
          </a:xfrm>
          <a:prstGeom prst="rect">
            <a:avLst/>
          </a:prstGeom>
          <a:solidFill>
            <a:srgbClr val="F5F5F5"/>
          </a:solidFill>
          <a:ln w="6858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166420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4E79"/>
                </a:solidFill>
              </a:rPr>
              <a:t>t-4 (1990)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6642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</a:rPr>
              <a:t>1485mm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6642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</a:rPr>
              <a:t>16.4°C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66420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</a:rPr>
              <a:t>→ input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36592" y="2066543"/>
            <a:ext cx="4114800" cy="420624"/>
          </a:xfrm>
          <a:prstGeom prst="rect">
            <a:avLst/>
          </a:prstGeom>
          <a:solidFill>
            <a:srgbClr val="F5F5F5"/>
          </a:solidFill>
          <a:ln w="6858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215798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4E79"/>
                </a:solidFill>
              </a:rPr>
              <a:t>t-3 (1991)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15798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</a:rPr>
              <a:t>1485mm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15798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</a:rPr>
              <a:t>15.4°C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15798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</a:rPr>
              <a:t>→ input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36592" y="2560320"/>
            <a:ext cx="4114800" cy="420624"/>
          </a:xfrm>
          <a:prstGeom prst="rect">
            <a:avLst/>
          </a:prstGeom>
          <a:solidFill>
            <a:srgbClr val="F5F5F5"/>
          </a:solidFill>
          <a:ln w="6858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265176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4E79"/>
                </a:solidFill>
              </a:rPr>
              <a:t>t-2 (1992)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6517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</a:rPr>
              <a:t>1485mm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6517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</a:rPr>
              <a:t>16.0°C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65176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</a:rPr>
              <a:t>→ input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36592" y="3054096"/>
            <a:ext cx="4114800" cy="420624"/>
          </a:xfrm>
          <a:prstGeom prst="rect">
            <a:avLst/>
          </a:prstGeom>
          <a:solidFill>
            <a:srgbClr val="F5F5F5"/>
          </a:solidFill>
          <a:ln w="6858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314553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4E79"/>
                </a:solidFill>
              </a:rPr>
              <a:t>t-1 (1993)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31455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</a:rPr>
              <a:t>1485mm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1455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</a:rPr>
              <a:t>17.1°C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14553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568"/>
                </a:solidFill>
              </a:rPr>
              <a:t>→ input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547872"/>
            <a:ext cx="4114800" cy="420624"/>
          </a:xfrm>
          <a:prstGeom prst="rect">
            <a:avLst/>
          </a:prstGeom>
          <a:solidFill>
            <a:srgbClr val="D5E8D4"/>
          </a:solidFill>
          <a:ln w="6858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363931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t   (1994)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36393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5568"/>
                </a:solidFill>
              </a:rPr>
              <a:t>1485mm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6393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5568"/>
                </a:solidFill>
              </a:rPr>
              <a:t>16.8°C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363931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76749"/>
                </a:solidFill>
              </a:rPr>
              <a:t>→ PREDICT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42062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A5568"/>
                </a:solidFill>
              </a:rPr>
              <a:t>Total: 25,932 sequences — one per row in the original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" cy="5143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6324" y="27432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</a:rPr>
              <a:t>Model Architecture — BiLSTM +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324" y="1051560"/>
            <a:ext cx="8138160" cy="0"/>
          </a:xfrm>
          <a:prstGeom prst="rect">
            <a:avLst/>
          </a:prstGeom>
          <a:noFill/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Forward and backward temporal processing with learned year-level focus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417320" cy="621792"/>
          </a:xfrm>
          <a:prstGeom prst="rect">
            <a:avLst/>
          </a:prstGeom>
          <a:solidFill>
            <a:srgbClr val="DEEBF7"/>
          </a:solidFill>
          <a:ln w="9144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4E79"/>
                </a:solidFill>
              </a:rPr>
              <a:t>Input Sequences
(B, 5, 5)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170432"/>
            <a:ext cx="1600200" cy="621792"/>
          </a:xfrm>
          <a:prstGeom prst="rect">
            <a:avLst/>
          </a:prstGeom>
          <a:solidFill>
            <a:srgbClr val="BDD7EE"/>
          </a:solidFill>
          <a:ln w="9144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234440"/>
            <a:ext cx="1508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5B6"/>
                </a:solidFill>
              </a:rPr>
              <a:t>BiLSTM × 2 Layers
(B, 5, 128)  H=64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170432"/>
            <a:ext cx="1600200" cy="621792"/>
          </a:xfrm>
          <a:prstGeom prst="rect">
            <a:avLst/>
          </a:prstGeom>
          <a:solidFill>
            <a:srgbClr val="FFF2CC"/>
          </a:solidFill>
          <a:ln w="9144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234440"/>
            <a:ext cx="1508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D7D31"/>
                </a:solidFill>
              </a:rPr>
              <a:t>Temporal Attention
context (B, 128)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170432"/>
            <a:ext cx="1417320" cy="621792"/>
          </a:xfrm>
          <a:prstGeom prst="rect">
            <a:avLst/>
          </a:prstGeom>
          <a:solidFill>
            <a:srgbClr val="DEEBF7"/>
          </a:solidFill>
          <a:ln w="9144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234440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4E79"/>
                </a:solidFill>
              </a:rPr>
              <a:t>Dense 128+BN
+Dropout(0.3)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170432"/>
            <a:ext cx="1527048" cy="621792"/>
          </a:xfrm>
          <a:prstGeom prst="rect">
            <a:avLst/>
          </a:prstGeom>
          <a:solidFill>
            <a:srgbClr val="D5E8D4"/>
          </a:solidFill>
          <a:ln w="9144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1234440"/>
            <a:ext cx="143560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76749"/>
                </a:solidFill>
              </a:rPr>
              <a:t>Dense 64+BN
+Skip(static)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7652" y="1316736"/>
            <a:ext cx="219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4740" y="1316736"/>
            <a:ext cx="219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3540" y="1316736"/>
            <a:ext cx="219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1172" y="1316736"/>
            <a:ext cx="219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42248" y="1170432"/>
            <a:ext cx="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31352" y="1371600"/>
            <a:ext cx="365760" cy="2286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1352" y="1371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→ yield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19933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5568"/>
                </a:solidFill>
              </a:rPr>
              <a:t>Static features (country, crop)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2128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0AD47"/>
                </a:solidFill>
              </a:rPr>
              <a:t>────── skip connection bypasses LSTM ──────────────────────────────→ adds to Dense-64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" y="2487168"/>
            <a:ext cx="2743200" cy="2450592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6324" y="2487168"/>
            <a:ext cx="59436" cy="2450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" y="2578608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Why Bidirectional?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" y="2807208"/>
            <a:ext cx="2578608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Standard LSTM reads only forward.
BiLSTM adds a backward pass:
Forward: 'yields rising 3 yrs →
  trend likely continues'
Backward: 'high yield preceded
  by 2 consecutive wet years'
Both runs concatenated → 128-dim
hidden state vs 64-dim for vanilla.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2487168"/>
            <a:ext cx="2743200" cy="2450592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2487168"/>
            <a:ext cx="59436" cy="2450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10128" y="2578608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Why Attention?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0128" y="2807208"/>
            <a:ext cx="2578608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Not all 5 lookback years matter equally.
A drought 4 years ago may dominate.
score_t = v · tanh(W · h_t)
α       = softmax(scores)
context = Σ αt × ht
α is a learned weight per timestep.
Attention heatmaps show which year
the model focused on — interpretable.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9048" y="2487168"/>
            <a:ext cx="2743200" cy="2450592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9048" y="2487168"/>
            <a:ext cx="59436" cy="2450592"/>
          </a:xfrm>
          <a:prstGeom prst="rect">
            <a:avLst/>
          </a:prstGeom>
          <a:solidFill>
            <a:srgbClr val="4C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8776" y="2578608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Why Skip Connection?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8776" y="2807208"/>
            <a:ext cx="2578608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Separates two distinct signals:
LSTM learns: climate deviation
  patterns (domain-invariant)
Skip carries: country/crop
  baseline identity directly
  to the output layer.
Prevents LSTM wasting capacity
memorising which crop is which.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" cy="5143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6324" y="27432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</a:rPr>
              <a:t>Training Setup &amp; Regularisation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324" y="1051560"/>
            <a:ext cx="8138160" cy="0"/>
          </a:xfrm>
          <a:prstGeom prst="rect">
            <a:avLst/>
          </a:prstGeom>
          <a:noFill/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Every design choice motivated by a specific failure mode it prevents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" y="1170432"/>
            <a:ext cx="8531352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Setting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88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188720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" y="1490472"/>
            <a:ext cx="8531352" cy="438912"/>
          </a:xfrm>
          <a:prstGeom prst="rect">
            <a:avLst/>
          </a:prstGeom>
          <a:solidFill>
            <a:srgbClr val="FFFFFF"/>
          </a:solidFill>
          <a:ln w="6858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56362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5B6"/>
                </a:solidFill>
              </a:rPr>
              <a:t>Stratified 70/15/15 by crop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563624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4A5568"/>
                </a:solidFill>
              </a:rPr>
              <a:t>Every crop in every split — no crop invisible to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" y="1929384"/>
            <a:ext cx="8531352" cy="438912"/>
          </a:xfrm>
          <a:prstGeom prst="rect">
            <a:avLst/>
          </a:prstGeom>
          <a:solidFill>
            <a:srgbClr val="F0F4F8"/>
          </a:solidFill>
          <a:ln w="6858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0025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Optimizer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00253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5B6"/>
                </a:solidFill>
              </a:rPr>
              <a:t>Adam, lr=1e-3, weight_decay=1e-4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002536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4A5568"/>
                </a:solidFill>
              </a:rPr>
              <a:t>Adaptive per-param LR converges faster than SGD on multi-scale 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4" y="2368296"/>
            <a:ext cx="8531352" cy="438912"/>
          </a:xfrm>
          <a:prstGeom prst="rect">
            <a:avLst/>
          </a:prstGeom>
          <a:solidFill>
            <a:srgbClr val="FFFFFF"/>
          </a:solidFill>
          <a:ln w="6858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4414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LR Schedule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4414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5B6"/>
                </a:solidFill>
              </a:rPr>
              <a:t>ReduceLROnPlateau (factor=0.5, p=5)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441448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4A5568"/>
                </a:solidFill>
              </a:rPr>
              <a:t>Halves LR when val loss stagnates — visible as kink in learning curve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" y="2807208"/>
            <a:ext cx="8531352" cy="438912"/>
          </a:xfrm>
          <a:prstGeom prst="rect">
            <a:avLst/>
          </a:prstGeom>
          <a:solidFill>
            <a:srgbClr val="F0F4F8"/>
          </a:solidFill>
          <a:ln w="6858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Early Stopping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2880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5B6"/>
                </a:solidFill>
              </a:rPr>
              <a:t>Patience = 15 epochs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288036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4A5568"/>
                </a:solidFill>
              </a:rPr>
              <a:t>Halts when val loss stops improving — prevents overfitting on train 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" y="3246120"/>
            <a:ext cx="8531352" cy="438912"/>
          </a:xfrm>
          <a:prstGeom prst="rect">
            <a:avLst/>
          </a:prstGeom>
          <a:solidFill>
            <a:srgbClr val="FFFFFF"/>
          </a:solidFill>
          <a:ln w="6858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3192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Dropout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33192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5B6"/>
                </a:solidFill>
              </a:rPr>
              <a:t>0.3 after Dense layers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3319272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4A5568"/>
                </a:solidFill>
              </a:rPr>
              <a:t>Randomly zeros 30% of activations — forces redundant representations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" y="3685031"/>
            <a:ext cx="8531352" cy="438912"/>
          </a:xfrm>
          <a:prstGeom prst="rect">
            <a:avLst/>
          </a:prstGeom>
          <a:solidFill>
            <a:srgbClr val="F0F4F8"/>
          </a:solidFill>
          <a:ln w="6858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758183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Batch Norm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3758183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5B6"/>
                </a:solidFill>
              </a:rPr>
              <a:t>After each Dense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758183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4A5568"/>
                </a:solidFill>
              </a:rPr>
              <a:t>Normalises layer inputs — reduces internal covariate shift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6324" y="4123944"/>
            <a:ext cx="8531352" cy="438912"/>
          </a:xfrm>
          <a:prstGeom prst="rect">
            <a:avLst/>
          </a:prstGeom>
          <a:solidFill>
            <a:srgbClr val="FFFFFF"/>
          </a:solidFill>
          <a:ln w="6858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1970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Grad Clipping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83080" y="41970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5B6"/>
                </a:solidFill>
              </a:rPr>
              <a:t>max_norm = 1.0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197096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4A5568"/>
                </a:solidFill>
              </a:rPr>
              <a:t>Caps gradient magnitude — prevents LSTM exploding gradient issue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" y="4562856"/>
            <a:ext cx="8531352" cy="438912"/>
          </a:xfrm>
          <a:prstGeom prst="rect">
            <a:avLst/>
          </a:prstGeom>
          <a:solidFill>
            <a:srgbClr val="F0F4F8"/>
          </a:solidFill>
          <a:ln w="6858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6360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Target scaling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3080" y="46360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5B6"/>
                </a:solidFill>
              </a:rPr>
              <a:t>Per-crop z-score (same as SVR)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4636008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4A5568"/>
                </a:solidFill>
              </a:rPr>
              <a:t>Cassava=14t/ha, Soybean=1.7t/ha — model learns deviation, not raw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" cy="5143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6324" y="27432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</a:rPr>
              <a:t>Training Dynamics — Learning Curves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324" y="1051560"/>
            <a:ext cx="8138160" cy="0"/>
          </a:xfrm>
          <a:prstGeom prst="rect">
            <a:avLst/>
          </a:prstGeom>
          <a:noFill/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Val loss tracks train loss: no overfitting. LR decay visible as kink.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" y="1170432"/>
            <a:ext cx="4050791" cy="3611880"/>
          </a:xfrm>
          <a:prstGeom prst="rect">
            <a:avLst/>
          </a:prstGeom>
          <a:solidFill>
            <a:srgbClr val="F0F4F8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A5568"/>
                </a:solidFill>
              </a:rPr>
              <a:t>📊  results/phase2/dl_results.png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A5568"/>
                </a:solidFill>
              </a:rPr>
              <a:t>Learning Curves + Predicted vs Actual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07992" y="1170432"/>
            <a:ext cx="4270248" cy="795528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07992" y="1170432"/>
            <a:ext cx="59436" cy="795528"/>
          </a:xfrm>
          <a:prstGeom prst="rect">
            <a:avLst/>
          </a:prstGeom>
          <a:solidFill>
            <a:srgbClr val="4CA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61872"/>
            <a:ext cx="4105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Val loss tracks train — no overfitting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490472"/>
            <a:ext cx="4105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Train and val MSE converge together.
Gap remains small throughout training.
BiLSTM generalises: it did not memorise.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7992" y="2057400"/>
            <a:ext cx="4270248" cy="795528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07992" y="2057400"/>
            <a:ext cx="59436" cy="7955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148840"/>
            <a:ext cx="4105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LR decay kink (ReduceLROnPlateau)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77440"/>
            <a:ext cx="4105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Around epoch 30–40, val loss shows a
sharp improvement. This is LR halving.
Without it, training plateaus early.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7992" y="2944368"/>
            <a:ext cx="4270248" cy="795528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07992" y="2944368"/>
            <a:ext cx="59436" cy="7955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035808"/>
            <a:ext cx="4105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Early stop prevents overfitting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264408"/>
            <a:ext cx="4105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Training halted when val loss stagnated
for 15 consecutive epochs. Best weights
restored automatically.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7992" y="3831336"/>
            <a:ext cx="4270248" cy="795528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7992" y="3831336"/>
            <a:ext cx="59436" cy="795528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922776"/>
            <a:ext cx="4105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Predicted vs Actual scatter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151376"/>
            <a:ext cx="4105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Points cluster tightly around y=x.
R²=0.929 — model captures 92.9% of
yield variance across all crops.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" cy="5143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6324" y="27432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</a:rPr>
              <a:t>Diagnostic Evaluation — Per-Crop R² &amp; Attention Weights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324" y="1051560"/>
            <a:ext cx="8138160" cy="0"/>
          </a:xfrm>
          <a:prstGeom prst="rect">
            <a:avLst/>
          </a:prstGeom>
          <a:noFill/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Where the model succeeds, where it struggles, and what it focuses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" y="1170432"/>
            <a:ext cx="4050791" cy="1645920"/>
          </a:xfrm>
          <a:prstGeom prst="rect">
            <a:avLst/>
          </a:prstGeom>
          <a:solidFill>
            <a:srgbClr val="F0F4F8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A5568"/>
                </a:solidFill>
              </a:rPr>
              <a:t>📊  results/phase2/dl_per_crop_r2.png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A5568"/>
                </a:solidFill>
              </a:rPr>
              <a:t>Per-Crop R² Breakdown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" y="2944368"/>
            <a:ext cx="4050791" cy="1874519"/>
          </a:xfrm>
          <a:prstGeom prst="rect">
            <a:avLst/>
          </a:prstGeom>
          <a:solidFill>
            <a:srgbClr val="F0F4F8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703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A5568"/>
                </a:solidFill>
              </a:rPr>
              <a:t>📊  results/phase2/dl_attention_weights.png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7763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A5568"/>
                </a:solidFill>
              </a:rPr>
              <a:t>Attention Weight Heatmaps (8 samples)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1170432"/>
            <a:ext cx="4270248" cy="1645920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07992" y="1170432"/>
            <a:ext cx="59436" cy="1645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261872"/>
            <a:ext cx="4105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Per-Crop R² — What It Reveals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490472"/>
            <a:ext cx="410565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Different crops show different R² values.
High R² (&gt;0.92): Wheat, Maize, Rice —
  stable multi-year climate patterns.
Lower R² crops: root crops with high
  soil-based variability not in features.
Red bars = candidates for more features.
Overall R² = 0.929 across all crops.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7992" y="2944368"/>
            <a:ext cx="4270248" cy="1874519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07992" y="2944368"/>
            <a:ext cx="59436" cy="187451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035808"/>
            <a:ext cx="4105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Attention Weights — Interpretability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264408"/>
            <a:ext cx="4105656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Each bar = α_t for one lookback year.
α = softmax(v · tanh(W · h_t))
Pattern observed: model assigns highest
weight to t-1 and t (most recent) for
most crops — recent climate dominates.
For drought-sensitive crops, attention
shifts toward t-3 and t-4 — multi-year
soil moisture accumulation matters more.
This makes BiLSTM more interpretable
than a black-box neural network.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" cy="5143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6324" y="27432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</a:rPr>
              <a:t>Results — Ablation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324" y="1051560"/>
            <a:ext cx="8138160" cy="0"/>
          </a:xfrm>
          <a:prstGeom prst="rect">
            <a:avLst/>
          </a:prstGeom>
          <a:noFill/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BiLSTM vs SVR vs mean predictor on identical held-out test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" y="1170432"/>
            <a:ext cx="8531352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1887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MAE (t/ha)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RMSE (t/ha)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1887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" y="1517904"/>
            <a:ext cx="8531352" cy="566928"/>
          </a:xfrm>
          <a:prstGeom prst="rect">
            <a:avLst/>
          </a:prstGeom>
          <a:solidFill>
            <a:srgbClr val="FFFFFF"/>
          </a:solidFill>
          <a:ln w="6858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4591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Mean Predictor (baseline)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64591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5568"/>
                </a:solidFill>
              </a:rPr>
              <a:t>6.4799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1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5568"/>
                </a:solidFill>
              </a:rPr>
              <a:t>8.5135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64591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5568"/>
                </a:solidFill>
              </a:rPr>
              <a:t>0.000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" y="2084831"/>
            <a:ext cx="8531352" cy="566928"/>
          </a:xfrm>
          <a:prstGeom prst="rect">
            <a:avLst/>
          </a:prstGeom>
          <a:solidFill>
            <a:srgbClr val="DEEBF7"/>
          </a:solidFill>
          <a:ln w="6858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2128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SVR — 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2128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5B6"/>
                </a:solidFill>
              </a:rPr>
              <a:t>2.3025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128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5B6"/>
                </a:solidFill>
              </a:rPr>
              <a:t>3.8448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2128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5B6"/>
                </a:solidFill>
              </a:rPr>
              <a:t>0.796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" y="2651760"/>
            <a:ext cx="8531352" cy="566928"/>
          </a:xfrm>
          <a:prstGeom prst="rect">
            <a:avLst/>
          </a:prstGeom>
          <a:solidFill>
            <a:srgbClr val="D5E8D4"/>
          </a:solidFill>
          <a:ln w="6858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7797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749"/>
                </a:solidFill>
              </a:rPr>
              <a:t>BiLSTM + Attention (ours)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27797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6749"/>
                </a:solidFill>
              </a:rPr>
              <a:t>1.2800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7797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6749"/>
                </a:solidFill>
              </a:rPr>
              <a:t>2.2800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7797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6749"/>
                </a:solidFill>
              </a:rPr>
              <a:t>0.929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" y="3291840"/>
            <a:ext cx="265176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" y="3355848"/>
            <a:ext cx="2651760" cy="784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CAF82"/>
                </a:solidFill>
              </a:rPr>
              <a:t>40.6%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" y="4166920"/>
            <a:ext cx="2651760" cy="52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568"/>
                </a:solidFill>
              </a:rPr>
              <a:t>RMSE improvement over Phase 1 SVR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95244" y="3291840"/>
            <a:ext cx="265176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95244" y="3355848"/>
            <a:ext cx="2651760" cy="784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75B6"/>
                </a:solidFill>
              </a:rPr>
              <a:t>73.2%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95244" y="4166920"/>
            <a:ext cx="2651760" cy="52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568"/>
                </a:solidFill>
              </a:rPr>
              <a:t>RMSE improvement over mean baseline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84164" y="3291840"/>
            <a:ext cx="265176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84164" y="3355848"/>
            <a:ext cx="2651760" cy="784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76749"/>
                </a:solidFill>
              </a:rPr>
              <a:t>92.9%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84164" y="4166920"/>
            <a:ext cx="2651760" cy="52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568"/>
                </a:solidFill>
              </a:rPr>
              <a:t>of yield variance explained (R²)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" cy="5143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6324" y="27432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</a:rPr>
              <a:t>Theoretical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324" y="1051560"/>
            <a:ext cx="8138160" cy="0"/>
          </a:xfrm>
          <a:prstGeom prst="rect">
            <a:avLst/>
          </a:prstGeom>
          <a:noFill/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" y="749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Why each architectural choice maps to a specific mathematical principle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" y="1170432"/>
            <a:ext cx="4050791" cy="1417320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324" y="1170432"/>
            <a:ext cx="59436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" y="1261872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LSTM Gates — Solving Vanishing Gradients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" y="1490472"/>
            <a:ext cx="388620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Simple RNNs: gradients from 5 years ago
vanish to ~0 before reaching the output.
LSTM uses 3 gates (forget, input, output)
with sigmoid activations. The cell state
allows gradients to flow unchanged over
many timesteps — long-range memory.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7992" y="1170432"/>
            <a:ext cx="4270248" cy="1417320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7992" y="1170432"/>
            <a:ext cx="59436" cy="1417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261872"/>
            <a:ext cx="4105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Batch Normalisation — Covariate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490472"/>
            <a:ext cx="410565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Each Dense layer sees inputs from the
previous layer whose distribution shifts
every training step.
BN normalises each mini-batch to μ=0,
σ=1, then rescales with learned γ, β.
Each layer trains on a stable distribution.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" y="2715768"/>
            <a:ext cx="4050791" cy="1417320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" y="2715768"/>
            <a:ext cx="59436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" y="2807208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Adam Optimizer — Why Not SGD?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" y="3035808"/>
            <a:ext cx="388620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SGD uses one global LR for all params.
Adam maintains per-parameter adaptive
rates using 1st and 2nd moment estimates:
  m_t = β1·m_t-1 + (1-β1)·g_t
  v_t = β2·v_t-1 + (1-β2)·g_t²
  θ_t = θ_t-1 − α·m_t/√v_t
Faster convergence on sparse features.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7992" y="2715768"/>
            <a:ext cx="4270248" cy="1417320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07992" y="2715768"/>
            <a:ext cx="59436" cy="1417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807208"/>
            <a:ext cx="4105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Attention — Information-Theoretic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035808"/>
            <a:ext cx="410565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Attention computes a soft content-based
lookup over hidden states.
score_t = v · tanh(W · h_t)
α       = softmax(scores)
context = Σ αt × ht
Softmax ensures Σα=1 — a probability
distribution over time. Interpretable as:
'what fraction of attention goes to year t?'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" y="4224528"/>
            <a:ext cx="8531352" cy="576072"/>
          </a:xfrm>
          <a:prstGeom prst="rect">
            <a:avLst/>
          </a:prstGeom>
          <a:solidFill>
            <a:srgbClr val="FFFFFF"/>
          </a:solidFill>
          <a:ln w="9144">
            <a:solidFill>
              <a:srgbClr val="9F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6324" y="4224528"/>
            <a:ext cx="59436" cy="5760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052" y="4315968"/>
            <a:ext cx="8366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Why Gradient Clipping is Essential for LSTMs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" y="4544568"/>
            <a:ext cx="836676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LSTM cell state can accumulate large values over T timesteps. Backprop through time multiplies gradients T times — values can explode.
Clipping at max_norm=1.0 rescales the gradient vector if its L2 norm exceeds 1. Training becomes stable without losing signal direction.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52544" cy="5143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16168" y="0"/>
            <a:ext cx="3227832" cy="5143500"/>
          </a:xfrm>
          <a:prstGeom prst="rect">
            <a:avLst/>
          </a:prstGeom>
          <a:solidFill>
            <a:srgbClr val="17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8D8"/>
                </a:solidFill>
              </a:rPr>
              <a:t>Phase 2 —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AgriVision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201168" cy="2011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R² = 0.929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385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FB8D8"/>
                </a:solidFill>
              </a:rPr>
              <a:t>Explains 92.9% of yield variance — up from 0.796 in Phase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13432"/>
            <a:ext cx="201168" cy="2011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951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40.6% RMSE 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514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FB8D8"/>
                </a:solidFill>
              </a:rPr>
              <a:t>Over Phase 1 SVR — temporal context is the driver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9504"/>
            <a:ext cx="201168" cy="2011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8712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BiLSTM + 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906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FB8D8"/>
                </a:solidFill>
              </a:rPr>
              <a:t>Forward+backward temporal reading with interpretable weights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65576"/>
            <a:ext cx="201168" cy="2011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4472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Skip connection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6667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FB8D8"/>
                </a:solidFill>
              </a:rPr>
              <a:t>Separates climate patterns from crop/country identity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41648"/>
            <a:ext cx="201168" cy="2011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023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Stratified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2428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FB8D8"/>
                </a:solidFill>
              </a:rPr>
              <a:t>70/15/15 by crop — no crop invisible to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84048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FB8D8"/>
                </a:solidFill>
              </a:rPr>
              <a:t>KEY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685800"/>
            <a:ext cx="2523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0.929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1216152"/>
            <a:ext cx="2523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FB8D8"/>
                </a:solidFill>
              </a:rPr>
              <a:t>R² 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536192"/>
            <a:ext cx="2084831" cy="0"/>
          </a:xfrm>
          <a:prstGeom prst="rect">
            <a:avLst/>
          </a:prstGeom>
          <a:noFill/>
          <a:ln w="9144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618488"/>
            <a:ext cx="2523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2.28 t/ha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020824"/>
            <a:ext cx="2523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FB8D8"/>
                </a:solidFill>
              </a:rPr>
              <a:t>RMSE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359152"/>
            <a:ext cx="2084831" cy="0"/>
          </a:xfrm>
          <a:prstGeom prst="rect">
            <a:avLst/>
          </a:prstGeom>
          <a:noFill/>
          <a:ln w="9144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2441448"/>
            <a:ext cx="2523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CAF82"/>
                </a:solidFill>
              </a:rPr>
              <a:t>40.6%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843784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FB8D8"/>
                </a:solidFill>
              </a:rPr>
              <a:t>RMSE gain over Phase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CC0"/>
                </a:solidFill>
              </a:rPr>
              <a:t>GitHub: AgriVision-CropYield-SVR  ·  Dataset: FAO Crop Yield (Kaggle)  ·  Stack: PyTorch, scikit-learn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